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  <p:sldMasterId id="2147483657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2" r:id="rId7"/>
    <p:sldId id="263" r:id="rId8"/>
    <p:sldId id="268" r:id="rId9"/>
    <p:sldId id="269" r:id="rId10"/>
    <p:sldId id="261" r:id="rId11"/>
    <p:sldId id="264" r:id="rId12"/>
    <p:sldId id="270" r:id="rId13"/>
    <p:sldId id="271" r:id="rId14"/>
    <p:sldId id="273" r:id="rId15"/>
    <p:sldId id="272" r:id="rId16"/>
    <p:sldId id="274" r:id="rId17"/>
    <p:sldId id="266" r:id="rId18"/>
  </p:sldIdLst>
  <p:sldSz cx="9144000" cy="5143500" type="screen16x9"/>
  <p:notesSz cx="6858000" cy="9144000"/>
  <p:embeddedFontLst>
    <p:embeddedFont>
      <p:font typeface="Poppins Light" panose="020B0604020202020204" charset="0"/>
      <p:regular r:id="rId20"/>
      <p:bold r:id="rId21"/>
      <p:italic r:id="rId22"/>
      <p:boldItalic r:id="rId23"/>
    </p:embeddedFont>
    <p:embeddedFont>
      <p:font typeface="Poppins" panose="020B0604020202020204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Poppins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782" y="1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9a4c1cfc6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79a4c1cfc6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9a4c1cfc6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79a4c1cfc6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9a4c1cfc6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9a4c1cfc6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9a4c1cfc6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9a4c1cfc6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a4c1cfc6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9a4c1cfc6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9a4c1cfc6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9a4c1cfc6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a4c1cfc6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9a4c1cfc6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9a4c1cfc6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9a4c1cfc6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 - columna del título, nível de la titulación -- FP, Grado, Master -- estimación de necesidades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a4c1cfc6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9a4c1cfc6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36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a4c1cfc6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9a4c1cfc6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105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a4c1cfc6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9a4c1cfc6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433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a4c1cfc6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9a4c1cfc6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450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a4c1cfc6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9a4c1cfc6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type="title">
  <p:cSld name="TITLE">
    <p:bg>
      <p:bgPr>
        <a:solidFill>
          <a:schemeClr val="lt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seccion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ice" type="tx">
  <p:cSld name="TITLE_AND_BODY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co">
  <p:cSld name="5. Blanco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1" title="portrait-of-happy-college-student-in-the-classroom-2024-12-13-17-08-26-utc.jpg"/>
          <p:cNvPicPr preferRelativeResize="0"/>
          <p:nvPr/>
        </p:nvPicPr>
        <p:blipFill rotWithShape="1">
          <a:blip r:embed="rId3">
            <a:alphaModFix/>
          </a:blip>
          <a:srcRect t="6247" b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/>
          <p:nvPr/>
        </p:nvSpPr>
        <p:spPr>
          <a:xfrm>
            <a:off x="0" y="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1"/>
          <p:cNvSpPr/>
          <p:nvPr/>
        </p:nvSpPr>
        <p:spPr>
          <a:xfrm rot="10800000">
            <a:off x="7782000" y="367900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" name="Google Shape;27;p11"/>
          <p:cNvSpPr/>
          <p:nvPr/>
        </p:nvSpPr>
        <p:spPr>
          <a:xfrm>
            <a:off x="381075" y="3949313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" name="Google Shape;28;p11"/>
          <p:cNvSpPr txBox="1"/>
          <p:nvPr/>
        </p:nvSpPr>
        <p:spPr>
          <a:xfrm>
            <a:off x="711000" y="1489092"/>
            <a:ext cx="8133300" cy="301361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" lvl="0" indent="0" algn="l" rtl="0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s" sz="620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de Gestión de Inventario</a:t>
            </a:r>
          </a:p>
          <a:p>
            <a:pPr marL="0" marR="38100" lvl="0" indent="0" algn="l" rtl="0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lang="es" dirty="0">
                <a:solidFill>
                  <a:srgbClr val="E6945A"/>
                </a:solidFill>
                <a:latin typeface="Poppins"/>
              </a:rPr>
              <a:t>Control de caducidades · Estrategia FEFO · Coordenadas espaciales XYZ</a:t>
            </a:r>
          </a:p>
          <a:p>
            <a:pPr marL="0" marR="381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rgbClr val="FFFFFF"/>
                </a:solidFill>
                <a:latin typeface="Poppins Light"/>
              </a:rPr>
              <a:t>Nicolás Castellanos · Tutor: Jose Manuel </a:t>
            </a:r>
            <a:r>
              <a:rPr lang="es" sz="1600">
                <a:solidFill>
                  <a:srgbClr val="FFFFFF"/>
                </a:solidFill>
                <a:latin typeface="Poppins Light"/>
              </a:rPr>
              <a:t>Villar </a:t>
            </a:r>
            <a:endParaRPr lang="es" sz="1600" dirty="0">
              <a:solidFill>
                <a:srgbClr val="FFFFFF"/>
              </a:solidFill>
              <a:latin typeface="Poppins Light"/>
            </a:endParaRPr>
          </a:p>
          <a:p>
            <a:pPr marL="0" lvl="0" indent="0" algn="l" rtl="0">
              <a:buNone/>
            </a:pPr>
            <a:r>
              <a:rPr lang="es" sz="1400" dirty="0">
                <a:solidFill>
                  <a:srgbClr val="CCCCCC"/>
                </a:solidFill>
                <a:latin typeface="Poppins Light"/>
              </a:rPr>
              <a:t>Desarrollo de Aplicaciones Multiplataforma / Online</a:t>
            </a:r>
            <a:endParaRPr sz="620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9" name="Google Shape;29;p1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100" y="367900"/>
            <a:ext cx="2473800" cy="3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/>
          <p:nvPr/>
        </p:nvSpPr>
        <p:spPr>
          <a:xfrm>
            <a:off x="0" y="0"/>
            <a:ext cx="1938900" cy="51435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A00E5"/>
              </a:solidFill>
            </a:endParaRPr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3492150" y="97600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3037" b="1">
                <a:solidFill>
                  <a:srgbClr val="E6945A"/>
                </a:solidFill>
              </a:rPr>
              <a:t>01</a:t>
            </a:r>
            <a:endParaRPr sz="3037" b="1">
              <a:solidFill>
                <a:srgbClr val="E6945A"/>
              </a:solidFill>
            </a:endParaRPr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3492150" y="861825"/>
            <a:ext cx="686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3037" b="1">
                <a:solidFill>
                  <a:srgbClr val="E6945A"/>
                </a:solidFill>
              </a:rPr>
              <a:t>02</a:t>
            </a:r>
            <a:endParaRPr sz="3037" b="1">
              <a:solidFill>
                <a:srgbClr val="E6945A"/>
              </a:solidFill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3"/>
          </p:nvPr>
        </p:nvSpPr>
        <p:spPr>
          <a:xfrm>
            <a:off x="3492150" y="1780063"/>
            <a:ext cx="6861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3037" b="1">
                <a:solidFill>
                  <a:srgbClr val="E6945A"/>
                </a:solidFill>
              </a:rPr>
              <a:t>03</a:t>
            </a:r>
            <a:endParaRPr sz="3037" b="1">
              <a:solidFill>
                <a:srgbClr val="E6945A"/>
              </a:solidFill>
            </a:endParaRPr>
          </a:p>
        </p:txBody>
      </p:sp>
      <p:sp>
        <p:nvSpPr>
          <p:cNvPr id="38" name="Google Shape;38;p12"/>
          <p:cNvSpPr txBox="1"/>
          <p:nvPr/>
        </p:nvSpPr>
        <p:spPr>
          <a:xfrm>
            <a:off x="202350" y="134725"/>
            <a:ext cx="2074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>
                <a:solidFill>
                  <a:schemeClr val="lt1"/>
                </a:solidFill>
              </a:rPr>
              <a:t>Índice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39" name="Google Shape;39;p12"/>
          <p:cNvSpPr txBox="1">
            <a:spLocks noGrp="1"/>
          </p:cNvSpPr>
          <p:nvPr>
            <p:ph type="title"/>
          </p:nvPr>
        </p:nvSpPr>
        <p:spPr>
          <a:xfrm>
            <a:off x="4172539" y="149636"/>
            <a:ext cx="20742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 dirty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 y Contexto</a:t>
            </a:r>
            <a:endParaRPr sz="1200" dirty="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" name="Google Shape;41;p12"/>
          <p:cNvSpPr txBox="1">
            <a:spLocks noGrp="1"/>
          </p:cNvSpPr>
          <p:nvPr>
            <p:ph type="title" idx="5"/>
          </p:nvPr>
        </p:nvSpPr>
        <p:spPr>
          <a:xfrm>
            <a:off x="4172539" y="1060318"/>
            <a:ext cx="23940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 dirty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Estado del Arte</a:t>
            </a:r>
            <a:endParaRPr sz="1200" dirty="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4" name="Google Shape;44;p12"/>
          <p:cNvSpPr txBox="1"/>
          <p:nvPr/>
        </p:nvSpPr>
        <p:spPr>
          <a:xfrm>
            <a:off x="4178250" y="368850"/>
            <a:ext cx="30531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152A1D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152A1D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152A1D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6"/>
          </p:nvPr>
        </p:nvSpPr>
        <p:spPr>
          <a:xfrm>
            <a:off x="3492139" y="2523210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3037" b="1">
                <a:solidFill>
                  <a:srgbClr val="E6945A"/>
                </a:solidFill>
              </a:rPr>
              <a:t>04</a:t>
            </a:r>
            <a:endParaRPr sz="3037" b="1">
              <a:solidFill>
                <a:srgbClr val="E6945A"/>
              </a:solidFill>
            </a:endParaRP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7"/>
          </p:nvPr>
        </p:nvSpPr>
        <p:spPr>
          <a:xfrm>
            <a:off x="3486439" y="3362428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3037" b="1">
                <a:solidFill>
                  <a:srgbClr val="E6945A"/>
                </a:solidFill>
              </a:rPr>
              <a:t>05</a:t>
            </a:r>
            <a:endParaRPr sz="3037" b="1">
              <a:solidFill>
                <a:srgbClr val="E6945A"/>
              </a:solidFill>
            </a:endParaRPr>
          </a:p>
        </p:txBody>
      </p:sp>
      <p:sp>
        <p:nvSpPr>
          <p:cNvPr id="48" name="Google Shape;48;p12"/>
          <p:cNvSpPr txBox="1">
            <a:spLocks noGrp="1"/>
          </p:cNvSpPr>
          <p:nvPr>
            <p:ph type="title" idx="9"/>
          </p:nvPr>
        </p:nvSpPr>
        <p:spPr>
          <a:xfrm>
            <a:off x="4140139" y="4133156"/>
            <a:ext cx="2906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 dirty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</a:t>
            </a:r>
            <a:r>
              <a:rPr lang="es" sz="1200" dirty="0" smtClean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 Conclusiones</a:t>
            </a:r>
            <a:endParaRPr sz="1200" dirty="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3"/>
          </p:nvPr>
        </p:nvSpPr>
        <p:spPr>
          <a:xfrm>
            <a:off x="3492150" y="4134200"/>
            <a:ext cx="6861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3037" b="1">
                <a:solidFill>
                  <a:srgbClr val="E6945A"/>
                </a:solidFill>
              </a:rPr>
              <a:t>06</a:t>
            </a:r>
            <a:endParaRPr sz="3037" b="1">
              <a:solidFill>
                <a:srgbClr val="E6945A"/>
              </a:solidFill>
            </a:endParaRPr>
          </a:p>
        </p:txBody>
      </p:sp>
      <p:pic>
        <p:nvPicPr>
          <p:cNvPr id="54" name="Google Shape;54;p12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41;p12"/>
          <p:cNvSpPr txBox="1">
            <a:spLocks/>
          </p:cNvSpPr>
          <p:nvPr/>
        </p:nvSpPr>
        <p:spPr>
          <a:xfrm>
            <a:off x="4172539" y="2678544"/>
            <a:ext cx="23940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s-ES" sz="1200" dirty="0" smtClean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Planificación y desarrollo</a:t>
            </a:r>
            <a:endParaRPr lang="es-ES" sz="1200" dirty="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" name="Google Shape;41;p12"/>
          <p:cNvSpPr txBox="1">
            <a:spLocks/>
          </p:cNvSpPr>
          <p:nvPr/>
        </p:nvSpPr>
        <p:spPr>
          <a:xfrm>
            <a:off x="4110724" y="1879934"/>
            <a:ext cx="23940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s-ES" sz="1200" dirty="0" smtClean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proyecto</a:t>
            </a:r>
            <a:endParaRPr lang="es-ES" sz="1200" dirty="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" name="Google Shape;41;p12"/>
          <p:cNvSpPr txBox="1">
            <a:spLocks/>
          </p:cNvSpPr>
          <p:nvPr/>
        </p:nvSpPr>
        <p:spPr>
          <a:xfrm>
            <a:off x="4140139" y="3572947"/>
            <a:ext cx="23940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s-ES" sz="1200" dirty="0" smtClean="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y arquitectura</a:t>
            </a:r>
            <a:endParaRPr lang="es-ES" sz="1200" dirty="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49B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12800"/>
          <a:stretch/>
        </p:blipFill>
        <p:spPr>
          <a:xfrm>
            <a:off x="0" y="97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807500" y="3167608"/>
            <a:ext cx="4282900" cy="104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 y Contexto</a:t>
            </a:r>
            <a:endParaRPr sz="34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06700" y="23750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8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859498" y="4581331"/>
            <a:ext cx="647100" cy="0"/>
          </a:xfrm>
          <a:prstGeom prst="straightConnector1">
            <a:avLst/>
          </a:prstGeom>
          <a:noFill/>
          <a:ln w="76200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3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703425" y="1713825"/>
            <a:ext cx="76749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almacenes pequeños y medianos, la gestión del inventario aún se realiza con herramientas manuales o sistemas poco integrados. Esto genera pérdidas económicas por caducidad, roturas de stock y falta de trazabilidad en los movimientos.</a:t>
            </a:r>
            <a:endParaRPr sz="1800">
              <a:solidFill>
                <a:srgbClr val="223C4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03424" y="2821900"/>
            <a:ext cx="7977949" cy="17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proyecto surge de un caso real: una empresa de automatización de almacenes que necesitaba gestionar la ubicación exacta de palets mediante coordenadas espaciales (x, y, z) para robots autónomos </a:t>
            </a:r>
            <a:r>
              <a:rPr lang="es" sz="115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tipo </a:t>
            </a:r>
            <a:r>
              <a:rPr lang="es" sz="1150" smtClean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AMR/Kiva o cremers.</a:t>
            </a:r>
            <a:endParaRPr sz="115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¿Para quién? PYMES logísticas, almacenes con gestión manual y empresas que quieren dar el salto hacia la automatización.</a:t>
            </a:r>
            <a:r>
              <a:rPr lang="es" sz="1600" dirty="0">
                <a:solidFill>
                  <a:srgbClr val="223C45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78774" y="230775"/>
            <a:ext cx="531082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dirty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 dirty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 y Contexto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4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497400" y="2126023"/>
            <a:ext cx="2997000" cy="684600"/>
          </a:xfrm>
          <a:prstGeom prst="rect">
            <a:avLst/>
          </a:prstGeom>
          <a:solidFill>
            <a:srgbClr val="E6945A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87350" y="2810773"/>
            <a:ext cx="2997000" cy="684600"/>
          </a:xfrm>
          <a:prstGeom prst="rect">
            <a:avLst/>
          </a:prstGeom>
          <a:solidFill>
            <a:srgbClr val="E6945A">
              <a:alpha val="4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3642" y="3494772"/>
            <a:ext cx="2997000" cy="684600"/>
          </a:xfrm>
          <a:prstGeom prst="rect">
            <a:avLst/>
          </a:prstGeom>
          <a:solidFill>
            <a:srgbClr val="E6945A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487350" y="4179372"/>
            <a:ext cx="2997000" cy="6846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3484388" y="2126474"/>
            <a:ext cx="2997000" cy="684600"/>
          </a:xfrm>
          <a:prstGeom prst="rect">
            <a:avLst/>
          </a:prstGeom>
          <a:solidFill>
            <a:srgbClr val="152A1D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3484388" y="2810773"/>
            <a:ext cx="2997000" cy="684600"/>
          </a:xfrm>
          <a:prstGeom prst="rect">
            <a:avLst/>
          </a:prstGeom>
          <a:solidFill>
            <a:srgbClr val="152A1D">
              <a:alpha val="4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3484388" y="3495072"/>
            <a:ext cx="2997000" cy="684600"/>
          </a:xfrm>
          <a:prstGeom prst="rect">
            <a:avLst/>
          </a:prstGeom>
          <a:solidFill>
            <a:srgbClr val="152A1D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3484388" y="4179372"/>
            <a:ext cx="2997000" cy="684600"/>
          </a:xfrm>
          <a:prstGeom prst="rect">
            <a:avLst/>
          </a:prstGeom>
          <a:solidFill>
            <a:srgbClr val="152A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1198" y="2075308"/>
            <a:ext cx="294294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dirty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SAP EWM / Oracle </a:t>
            </a:r>
            <a:r>
              <a:rPr lang="es" sz="1000" dirty="0" smtClean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WMS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s-ES" sz="1000" dirty="0"/>
              <a:t>M</a:t>
            </a:r>
            <a:r>
              <a:rPr lang="es-ES" sz="1000" dirty="0" smtClean="0"/>
              <a:t>uy </a:t>
            </a:r>
            <a:r>
              <a:rPr lang="es-ES" sz="1000" dirty="0"/>
              <a:t>potentes, pero con alto coste de licencia, complejidad de implantación y menor accesibilidad para </a:t>
            </a:r>
            <a:r>
              <a:rPr lang="es-ES" sz="1000" dirty="0" smtClean="0"/>
              <a:t>PYMES.</a:t>
            </a:r>
            <a:endParaRPr sz="1000" dirty="0">
              <a:solidFill>
                <a:srgbClr val="152A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87409" y="2754956"/>
            <a:ext cx="28050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dirty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Odoo / </a:t>
            </a:r>
            <a:r>
              <a:rPr lang="es" sz="1000" dirty="0" smtClean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OpenBoxes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s-ES" sz="1000" dirty="0"/>
              <a:t>Soluciones open </a:t>
            </a:r>
            <a:r>
              <a:rPr lang="es-ES" sz="1000" dirty="0" err="1"/>
              <a:t>source</a:t>
            </a:r>
            <a:r>
              <a:rPr lang="es-ES" sz="1000" dirty="0"/>
              <a:t> accesibles, pero con soporte limitado para coordenadas espaciales y automatización logística avanzada.</a:t>
            </a:r>
            <a:endParaRPr sz="1000" dirty="0">
              <a:solidFill>
                <a:srgbClr val="152A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99332" y="3552716"/>
            <a:ext cx="2805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dirty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Soluciones genéricas sin FEFO ni </a:t>
            </a:r>
            <a:r>
              <a:rPr lang="es" sz="1000" dirty="0" smtClean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3D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s-ES" sz="1000" dirty="0"/>
              <a:t>Muchos sistemas básicos no priorizan productos según fecha de vencimiento.</a:t>
            </a:r>
            <a:endParaRPr sz="1000" dirty="0">
              <a:solidFill>
                <a:srgbClr val="152A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58493" y="4121356"/>
            <a:ext cx="28050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dirty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Herramientas manuales / hojas </a:t>
            </a:r>
            <a:r>
              <a:rPr lang="es" sz="1000" dirty="0" smtClean="0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Excel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s-ES" sz="1000" dirty="0"/>
              <a:t>Procesos poco escalables, dependientes de actualización manual y con alta probabilidad de errores humanos.</a:t>
            </a:r>
            <a:endParaRPr sz="1000" dirty="0">
              <a:solidFill>
                <a:srgbClr val="152A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676388" y="2214028"/>
            <a:ext cx="2805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00" dirty="0"/>
              <a:t>Alternativa más </a:t>
            </a:r>
            <a:r>
              <a:rPr lang="es-ES" sz="1000"/>
              <a:t>ligera </a:t>
            </a:r>
            <a:r>
              <a:rPr lang="es-ES" sz="1000" smtClean="0"/>
              <a:t>, </a:t>
            </a:r>
            <a:r>
              <a:rPr lang="es-ES" sz="1000" dirty="0"/>
              <a:t>manteniendo FEFO y gestión avanzada de ubicaciones.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616896" y="2847799"/>
            <a:ext cx="2805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00" dirty="0"/>
              <a:t>Gestión de ubicaciones mediante coordenadas 3D (</a:t>
            </a:r>
            <a:r>
              <a:rPr lang="es-ES" sz="1000" dirty="0" err="1"/>
              <a:t>x,y,z</a:t>
            </a:r>
            <a:r>
              <a:rPr lang="es-ES" sz="1000" dirty="0"/>
              <a:t>) preparada para futura integración con </a:t>
            </a:r>
            <a:r>
              <a:rPr lang="es-ES" sz="1000"/>
              <a:t>robots </a:t>
            </a:r>
            <a:r>
              <a:rPr lang="es-ES" sz="1000" smtClean="0"/>
              <a:t>AMR/Kiva/cremers.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3620294" y="3540365"/>
            <a:ext cx="2570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1000" dirty="0">
                <a:solidFill>
                  <a:schemeClr val="bg1"/>
                </a:solidFill>
              </a:rPr>
              <a:t>Implementación nativa de estrategia FEFO con priorización automática por caducidad y criticidad logística.</a:t>
            </a:r>
          </a:p>
        </p:txBody>
      </p:sp>
      <p:sp>
        <p:nvSpPr>
          <p:cNvPr id="141" name="Google Shape;141;p17"/>
          <p:cNvSpPr txBox="1"/>
          <p:nvPr/>
        </p:nvSpPr>
        <p:spPr>
          <a:xfrm>
            <a:off x="3579327" y="4187496"/>
            <a:ext cx="2805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00" dirty="0">
                <a:solidFill>
                  <a:schemeClr val="bg1"/>
                </a:solidFill>
              </a:rPr>
              <a:t>Sistema centralizado multiplataforma con API REST, </a:t>
            </a:r>
            <a:r>
              <a:rPr lang="es-ES" sz="1000" dirty="0" err="1">
                <a:solidFill>
                  <a:schemeClr val="bg1"/>
                </a:solidFill>
              </a:rPr>
              <a:t>dashboard</a:t>
            </a:r>
            <a:r>
              <a:rPr lang="es-ES" sz="1000" dirty="0">
                <a:solidFill>
                  <a:schemeClr val="bg1"/>
                </a:solidFill>
              </a:rPr>
              <a:t> web y aplicación Android sincronizados en tiempo real.</a:t>
            </a:r>
            <a:endParaRPr sz="10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17" title="Captura de pantalla 2025-08-27 a las 15.37.12.png"/>
          <p:cNvPicPr preferRelativeResize="0"/>
          <p:nvPr/>
        </p:nvPicPr>
        <p:blipFill rotWithShape="1">
          <a:blip r:embed="rId3">
            <a:alphaModFix/>
          </a:blip>
          <a:srcRect l="21351" r="21345"/>
          <a:stretch/>
        </p:blipFill>
        <p:spPr>
          <a:xfrm>
            <a:off x="7052750" y="0"/>
            <a:ext cx="20912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8774" y="230775"/>
            <a:ext cx="433522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dirty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 dirty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Estado del Arte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145;p17"/>
          <p:cNvGrpSpPr/>
          <p:nvPr/>
        </p:nvGrpSpPr>
        <p:grpSpPr>
          <a:xfrm>
            <a:off x="3361660" y="2333697"/>
            <a:ext cx="245537" cy="270184"/>
            <a:chOff x="672659" y="2126314"/>
            <a:chExt cx="933600" cy="868200"/>
          </a:xfrm>
        </p:grpSpPr>
        <p:sp>
          <p:nvSpPr>
            <p:cNvPr id="146" name="Google Shape;146;p17"/>
            <p:cNvSpPr/>
            <p:nvPr/>
          </p:nvSpPr>
          <p:spPr>
            <a:xfrm rot="6473768">
              <a:off x="791419" y="2186141"/>
              <a:ext cx="696080" cy="748546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152A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" name="Google Shape;147;p17"/>
            <p:cNvGrpSpPr/>
            <p:nvPr/>
          </p:nvGrpSpPr>
          <p:grpSpPr>
            <a:xfrm>
              <a:off x="937507" y="2417950"/>
              <a:ext cx="403901" cy="283412"/>
              <a:chOff x="2255100" y="2436776"/>
              <a:chExt cx="323950" cy="182399"/>
            </a:xfrm>
          </p:grpSpPr>
          <p:cxnSp>
            <p:nvCxnSpPr>
              <p:cNvPr id="148" name="Google Shape;148;p17"/>
              <p:cNvCxnSpPr/>
              <p:nvPr/>
            </p:nvCxnSpPr>
            <p:spPr>
              <a:xfrm>
                <a:off x="2255100" y="2527975"/>
                <a:ext cx="319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17"/>
              <p:cNvCxnSpPr/>
              <p:nvPr/>
            </p:nvCxnSpPr>
            <p:spPr>
              <a:xfrm>
                <a:off x="2474035" y="2436776"/>
                <a:ext cx="1050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17"/>
              <p:cNvCxnSpPr/>
              <p:nvPr/>
            </p:nvCxnSpPr>
            <p:spPr>
              <a:xfrm flipH="1">
                <a:off x="2490850" y="2527975"/>
                <a:ext cx="882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1" name="Google Shape;151;p17"/>
          <p:cNvGrpSpPr/>
          <p:nvPr/>
        </p:nvGrpSpPr>
        <p:grpSpPr>
          <a:xfrm>
            <a:off x="3361660" y="3018009"/>
            <a:ext cx="245537" cy="270184"/>
            <a:chOff x="672659" y="2126314"/>
            <a:chExt cx="933600" cy="868200"/>
          </a:xfrm>
        </p:grpSpPr>
        <p:sp>
          <p:nvSpPr>
            <p:cNvPr id="152" name="Google Shape;152;p17"/>
            <p:cNvSpPr/>
            <p:nvPr/>
          </p:nvSpPr>
          <p:spPr>
            <a:xfrm rot="6473768">
              <a:off x="791419" y="2186141"/>
              <a:ext cx="696080" cy="748546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152A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17"/>
            <p:cNvGrpSpPr/>
            <p:nvPr/>
          </p:nvGrpSpPr>
          <p:grpSpPr>
            <a:xfrm>
              <a:off x="937507" y="2417950"/>
              <a:ext cx="403901" cy="283412"/>
              <a:chOff x="2255100" y="2436776"/>
              <a:chExt cx="323950" cy="182399"/>
            </a:xfrm>
          </p:grpSpPr>
          <p:cxnSp>
            <p:nvCxnSpPr>
              <p:cNvPr id="154" name="Google Shape;154;p17"/>
              <p:cNvCxnSpPr/>
              <p:nvPr/>
            </p:nvCxnSpPr>
            <p:spPr>
              <a:xfrm>
                <a:off x="2255100" y="2527975"/>
                <a:ext cx="319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7"/>
              <p:cNvCxnSpPr/>
              <p:nvPr/>
            </p:nvCxnSpPr>
            <p:spPr>
              <a:xfrm>
                <a:off x="2474035" y="2436776"/>
                <a:ext cx="1050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17"/>
              <p:cNvCxnSpPr/>
              <p:nvPr/>
            </p:nvCxnSpPr>
            <p:spPr>
              <a:xfrm flipH="1">
                <a:off x="2490850" y="2527975"/>
                <a:ext cx="882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7" name="Google Shape;157;p17"/>
          <p:cNvGrpSpPr/>
          <p:nvPr/>
        </p:nvGrpSpPr>
        <p:grpSpPr>
          <a:xfrm>
            <a:off x="3361660" y="3702295"/>
            <a:ext cx="245537" cy="270184"/>
            <a:chOff x="672659" y="2126314"/>
            <a:chExt cx="933600" cy="868200"/>
          </a:xfrm>
        </p:grpSpPr>
        <p:sp>
          <p:nvSpPr>
            <p:cNvPr id="158" name="Google Shape;158;p17"/>
            <p:cNvSpPr/>
            <p:nvPr/>
          </p:nvSpPr>
          <p:spPr>
            <a:xfrm rot="6473768">
              <a:off x="791419" y="2186141"/>
              <a:ext cx="696080" cy="748546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152A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" name="Google Shape;159;p17"/>
            <p:cNvGrpSpPr/>
            <p:nvPr/>
          </p:nvGrpSpPr>
          <p:grpSpPr>
            <a:xfrm>
              <a:off x="937507" y="2417950"/>
              <a:ext cx="403901" cy="283412"/>
              <a:chOff x="2255100" y="2436776"/>
              <a:chExt cx="323950" cy="182399"/>
            </a:xfrm>
          </p:grpSpPr>
          <p:cxnSp>
            <p:nvCxnSpPr>
              <p:cNvPr id="160" name="Google Shape;160;p17"/>
              <p:cNvCxnSpPr/>
              <p:nvPr/>
            </p:nvCxnSpPr>
            <p:spPr>
              <a:xfrm>
                <a:off x="2255100" y="2527975"/>
                <a:ext cx="319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17"/>
              <p:cNvCxnSpPr/>
              <p:nvPr/>
            </p:nvCxnSpPr>
            <p:spPr>
              <a:xfrm>
                <a:off x="2474035" y="2436776"/>
                <a:ext cx="1050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Google Shape;162;p17"/>
              <p:cNvCxnSpPr/>
              <p:nvPr/>
            </p:nvCxnSpPr>
            <p:spPr>
              <a:xfrm flipH="1">
                <a:off x="2490850" y="2527975"/>
                <a:ext cx="882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3" name="Google Shape;163;p17"/>
          <p:cNvGrpSpPr/>
          <p:nvPr/>
        </p:nvGrpSpPr>
        <p:grpSpPr>
          <a:xfrm>
            <a:off x="3361660" y="4386595"/>
            <a:ext cx="245537" cy="270184"/>
            <a:chOff x="672659" y="2126314"/>
            <a:chExt cx="933600" cy="868200"/>
          </a:xfrm>
        </p:grpSpPr>
        <p:sp>
          <p:nvSpPr>
            <p:cNvPr id="164" name="Google Shape;164;p17"/>
            <p:cNvSpPr/>
            <p:nvPr/>
          </p:nvSpPr>
          <p:spPr>
            <a:xfrm rot="6473768">
              <a:off x="791419" y="2186141"/>
              <a:ext cx="696080" cy="748546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152A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7"/>
            <p:cNvGrpSpPr/>
            <p:nvPr/>
          </p:nvGrpSpPr>
          <p:grpSpPr>
            <a:xfrm>
              <a:off x="937507" y="2417950"/>
              <a:ext cx="403901" cy="283412"/>
              <a:chOff x="2255100" y="2436776"/>
              <a:chExt cx="323950" cy="182399"/>
            </a:xfrm>
          </p:grpSpPr>
          <p:cxnSp>
            <p:nvCxnSpPr>
              <p:cNvPr id="166" name="Google Shape;166;p17"/>
              <p:cNvCxnSpPr/>
              <p:nvPr/>
            </p:nvCxnSpPr>
            <p:spPr>
              <a:xfrm>
                <a:off x="2255100" y="2527975"/>
                <a:ext cx="319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7"/>
              <p:cNvCxnSpPr/>
              <p:nvPr/>
            </p:nvCxnSpPr>
            <p:spPr>
              <a:xfrm>
                <a:off x="2474035" y="2436776"/>
                <a:ext cx="1050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17"/>
              <p:cNvCxnSpPr/>
              <p:nvPr/>
            </p:nvCxnSpPr>
            <p:spPr>
              <a:xfrm flipH="1">
                <a:off x="2490850" y="2527975"/>
                <a:ext cx="88200" cy="91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152A1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169" name="Google Shape;169;p17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A1D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738" y="2954738"/>
            <a:ext cx="322575" cy="3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310875" y="2923575"/>
            <a:ext cx="2852100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Desarollar</a:t>
            </a:r>
            <a:r>
              <a:rPr lang="es" sz="13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" sz="13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 sistema </a:t>
            </a:r>
            <a:r>
              <a:rPr lang="es" sz="1300" b="1" dirty="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multiplataforma</a:t>
            </a:r>
            <a:r>
              <a:rPr lang="es" sz="13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gestión de inventario </a:t>
            </a:r>
            <a:r>
              <a:rPr lang="es" sz="13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 Dashboard </a:t>
            </a:r>
            <a:r>
              <a:rPr lang="es" sz="13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Web + </a:t>
            </a:r>
            <a:r>
              <a:rPr lang="es" sz="13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aplicación Android</a:t>
            </a:r>
            <a:endParaRPr sz="1300" b="1" dirty="0">
              <a:solidFill>
                <a:srgbClr val="7AF6C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037" y="1903825"/>
            <a:ext cx="391975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272" y="3936250"/>
            <a:ext cx="391974" cy="391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8"/>
          <p:cNvCxnSpPr/>
          <p:nvPr/>
        </p:nvCxnSpPr>
        <p:spPr>
          <a:xfrm>
            <a:off x="1030025" y="2392325"/>
            <a:ext cx="0" cy="354300"/>
          </a:xfrm>
          <a:prstGeom prst="straightConnector1">
            <a:avLst/>
          </a:prstGeom>
          <a:noFill/>
          <a:ln w="952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18"/>
          <p:cNvCxnSpPr/>
          <p:nvPr/>
        </p:nvCxnSpPr>
        <p:spPr>
          <a:xfrm>
            <a:off x="1027263" y="3485450"/>
            <a:ext cx="0" cy="354300"/>
          </a:xfrm>
          <a:prstGeom prst="straightConnector1">
            <a:avLst/>
          </a:prstGeom>
          <a:noFill/>
          <a:ln w="952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18"/>
          <p:cNvSpPr/>
          <p:nvPr/>
        </p:nvSpPr>
        <p:spPr>
          <a:xfrm>
            <a:off x="1310875" y="1748388"/>
            <a:ext cx="3243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1300" dirty="0">
                <a:solidFill>
                  <a:schemeClr val="lt1"/>
                </a:solidFill>
                <a:latin typeface="Poppins"/>
                <a:ea typeface="Poppins"/>
                <a:cs typeface="Poppins"/>
              </a:rPr>
              <a:t>Optimizar la trazabilidad y control del inventario reduciendo errores y pérdidas por caducidad mediante </a:t>
            </a:r>
            <a:r>
              <a:rPr lang="es-ES" sz="1300" dirty="0">
                <a:solidFill>
                  <a:schemeClr val="lt1"/>
                </a:solidFill>
                <a:latin typeface="Poppins"/>
                <a:ea typeface="Poppins"/>
                <a:cs typeface="Poppins"/>
              </a:rPr>
              <a:t>estrategia </a:t>
            </a:r>
            <a:r>
              <a:rPr lang="es" sz="1300" b="1" dirty="0" smtClean="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FEFO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18" title="Captura de pantalla 2025-08-27 a las 16.51.15.png"/>
          <p:cNvPicPr preferRelativeResize="0"/>
          <p:nvPr/>
        </p:nvPicPr>
        <p:blipFill rotWithShape="1">
          <a:blip r:embed="rId6">
            <a:alphaModFix/>
          </a:blip>
          <a:srcRect l="13381" r="13374"/>
          <a:stretch/>
        </p:blipFill>
        <p:spPr>
          <a:xfrm>
            <a:off x="5404407" y="-2275"/>
            <a:ext cx="373958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0" y="126995"/>
            <a:ext cx="596602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dirty="0" smtClean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03</a:t>
            </a:r>
            <a:endParaRPr sz="33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 smtClean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 Objetivos </a:t>
            </a:r>
            <a:r>
              <a:rPr lang="es" sz="32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 Proyecto</a:t>
            </a:r>
            <a:endParaRPr sz="32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374675" y="3939788"/>
            <a:ext cx="285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Desarrollar una </a:t>
            </a:r>
            <a:r>
              <a:rPr lang="es" sz="1300" b="1" dirty="0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  <a:r>
              <a:rPr lang="es" sz="13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escalable con Spring Boot, JWT y control </a:t>
            </a:r>
            <a:r>
              <a:rPr lang="es" sz="13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 acceso por </a:t>
            </a:r>
            <a:r>
              <a:rPr lang="es" sz="13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roles</a:t>
            </a:r>
            <a:endParaRPr sz="1300" b="1" dirty="0">
              <a:solidFill>
                <a:srgbClr val="7AF6C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18" title="logo blanc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629359" y="1428525"/>
            <a:ext cx="4116974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1600"/>
            </a:pPr>
            <a:r>
              <a:rPr lang="es-ES" dirty="0"/>
              <a:t>Metodología iterativa e incremental</a:t>
            </a:r>
          </a:p>
          <a:p>
            <a:pPr>
              <a:defRPr sz="1600"/>
            </a:pPr>
            <a:endParaRPr lang="es-ES" dirty="0"/>
          </a:p>
          <a:p>
            <a:r>
              <a:rPr lang="es-ES" b="1"/>
              <a:t>1. Backend y panel web</a:t>
            </a:r>
          </a:p>
          <a:p>
            <a:r>
              <a:rPr lang="es-ES"/>
              <a:t>Desarrollo con Spring Boot + Thymeleaf </a:t>
            </a:r>
          </a:p>
          <a:p>
            <a:r>
              <a:rPr lang="es-ES"/>
              <a:t>Gestión de usuarios y autenticación </a:t>
            </a:r>
          </a:p>
          <a:p>
            <a:r>
              <a:rPr lang="es-ES"/>
              <a:t>Control de stock y lógica FEFO</a:t>
            </a:r>
          </a:p>
          <a:p>
            <a:pPr>
              <a:defRPr sz="1600"/>
            </a:pPr>
            <a:endParaRPr lang="es-ES" dirty="0"/>
          </a:p>
          <a:p>
            <a:pPr>
              <a:defRPr sz="1600"/>
            </a:pPr>
            <a:endParaRPr lang="es-ES" dirty="0"/>
          </a:p>
          <a:p>
            <a:r>
              <a:rPr lang="es-ES" b="1"/>
              <a:t>2. Diseño de aplicación Android</a:t>
            </a:r>
          </a:p>
          <a:p>
            <a:r>
              <a:rPr lang="es-ES"/>
              <a:t>Creación de layouts y navegación </a:t>
            </a:r>
          </a:p>
          <a:p>
            <a:r>
              <a:rPr lang="es-ES"/>
              <a:t>Diseño de interfaz y flujo de usuario </a:t>
            </a:r>
          </a:p>
          <a:p>
            <a:endParaRPr lang="es-ES"/>
          </a:p>
          <a:p>
            <a:pPr>
              <a:defRPr sz="1600"/>
            </a:pPr>
            <a:endParaRPr lang="es-ES" dirty="0"/>
          </a:p>
        </p:txBody>
      </p:sp>
      <p:sp>
        <p:nvSpPr>
          <p:cNvPr id="70" name="Google Shape;70;p14"/>
          <p:cNvSpPr txBox="1"/>
          <p:nvPr/>
        </p:nvSpPr>
        <p:spPr>
          <a:xfrm>
            <a:off x="426560" y="4170429"/>
            <a:ext cx="7674900" cy="10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Desviación real: el frontend Android requirió más tiempo del previsto por la configuración dinámica de la URL del backend. La metodología iterativa permitió absorber estos cambios sin bloquear el progreso general.</a:t>
            </a:r>
            <a:r>
              <a:rPr lang="es" sz="1600" dirty="0">
                <a:solidFill>
                  <a:srgbClr val="223C45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41754" y="102225"/>
            <a:ext cx="652762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dirty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 dirty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Planificación y Desarrollo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29359" y="1225574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4" title="logo verde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/>
          <p:cNvSpPr/>
          <p:nvPr/>
        </p:nvSpPr>
        <p:spPr>
          <a:xfrm>
            <a:off x="5109156" y="1369662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1600"/>
            </a:pPr>
            <a:endParaRPr lang="es-ES" dirty="0" smtClean="0"/>
          </a:p>
          <a:p>
            <a:pPr>
              <a:defRPr sz="1600"/>
            </a:pPr>
            <a:endParaRPr lang="es-ES" dirty="0"/>
          </a:p>
          <a:p>
            <a:r>
              <a:rPr lang="es-ES" b="1"/>
              <a:t>3. Integración Android + API REST</a:t>
            </a:r>
          </a:p>
          <a:p>
            <a:r>
              <a:rPr lang="es-ES"/>
              <a:t>Consumo de API mediante Retrofit </a:t>
            </a:r>
          </a:p>
          <a:p>
            <a:r>
              <a:rPr lang="es-ES"/>
              <a:t>Implementación funcional de pantallas </a:t>
            </a:r>
          </a:p>
          <a:p>
            <a:r>
              <a:rPr lang="es-ES"/>
              <a:t>Configuración dinámica del backend</a:t>
            </a:r>
          </a:p>
          <a:p>
            <a:pPr>
              <a:defRPr sz="1600"/>
            </a:pPr>
            <a:endParaRPr lang="es-ES" smtClean="0"/>
          </a:p>
          <a:p>
            <a:pPr>
              <a:defRPr sz="1600"/>
            </a:pPr>
            <a:endParaRPr lang="es-ES" dirty="0"/>
          </a:p>
          <a:p>
            <a:r>
              <a:rPr lang="es-ES" b="1"/>
              <a:t>4. Validaciones y documentación</a:t>
            </a:r>
          </a:p>
          <a:p>
            <a:r>
              <a:rPr lang="es-ES"/>
              <a:t>Pruebas funcionales </a:t>
            </a:r>
          </a:p>
          <a:p>
            <a:r>
              <a:rPr lang="es-ES"/>
              <a:t>Corrección de errores </a:t>
            </a:r>
          </a:p>
          <a:p>
            <a:r>
              <a:rPr lang="es-ES"/>
              <a:t>Memoria y despliegue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49B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 b="12800"/>
          <a:stretch/>
        </p:blipFill>
        <p:spPr>
          <a:xfrm>
            <a:off x="0" y="97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706700" y="3441209"/>
            <a:ext cx="3423600" cy="8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y Arquitectura</a:t>
            </a:r>
            <a:endParaRPr sz="34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06700" y="23750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0" b="1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8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859498" y="4581331"/>
            <a:ext cx="647100" cy="0"/>
          </a:xfrm>
          <a:prstGeom prst="straightConnector1">
            <a:avLst/>
          </a:prstGeom>
          <a:noFill/>
          <a:ln w="76200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3" title="logo bl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560774" y="169421"/>
            <a:ext cx="526402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 dirty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Solución Propuesta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541425" y="2393349"/>
            <a:ext cx="39321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b="1" dirty="0"/>
              <a:t>Lógica de negocio</a:t>
            </a:r>
          </a:p>
          <a:p>
            <a:r>
              <a:rPr lang="es-ES" sz="1200" dirty="0"/>
              <a:t>Spring </a:t>
            </a:r>
            <a:r>
              <a:rPr lang="es-ES" sz="1200" dirty="0" err="1"/>
              <a:t>Boot</a:t>
            </a:r>
            <a:r>
              <a:rPr lang="es-ES" sz="1200" dirty="0"/>
              <a:t> </a:t>
            </a:r>
          </a:p>
          <a:p>
            <a:r>
              <a:rPr lang="es-ES" sz="1200" dirty="0"/>
              <a:t>API REST </a:t>
            </a:r>
          </a:p>
          <a:p>
            <a:r>
              <a:rPr lang="es-ES" sz="1200" dirty="0"/>
              <a:t>JWT + control de roles </a:t>
            </a:r>
          </a:p>
          <a:p>
            <a:r>
              <a:rPr lang="es-ES" sz="1200" dirty="0"/>
              <a:t>FEFO y alertas</a:t>
            </a:r>
          </a:p>
          <a:p>
            <a:pPr lvl="0" algn="r">
              <a:lnSpc>
                <a:spcPct val="115000"/>
              </a:lnSpc>
            </a:pPr>
            <a:r>
              <a:rPr lang="es" sz="1150" dirty="0" smtClean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r>
              <a:rPr lang="es" sz="1600" dirty="0" smtClean="0">
                <a:solidFill>
                  <a:srgbClr val="223C45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21" name="Google Shape;121;p16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0;p16"/>
          <p:cNvSpPr txBox="1"/>
          <p:nvPr/>
        </p:nvSpPr>
        <p:spPr>
          <a:xfrm>
            <a:off x="6541425" y="3495000"/>
            <a:ext cx="39321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b="1" dirty="0"/>
              <a:t>Persistencia</a:t>
            </a:r>
          </a:p>
          <a:p>
            <a:r>
              <a:rPr lang="es-ES" sz="1200" dirty="0" err="1"/>
              <a:t>PostgreSQL</a:t>
            </a:r>
            <a:r>
              <a:rPr lang="es-ES" sz="1200" dirty="0"/>
              <a:t> </a:t>
            </a:r>
          </a:p>
          <a:p>
            <a:r>
              <a:rPr lang="es-ES" sz="1200" dirty="0"/>
              <a:t>JPA / </a:t>
            </a:r>
            <a:r>
              <a:rPr lang="es-ES" sz="1200" dirty="0" err="1"/>
              <a:t>Hibernate</a:t>
            </a:r>
            <a:endParaRPr lang="es-ES" sz="1200" dirty="0"/>
          </a:p>
        </p:txBody>
      </p:sp>
      <p:sp>
        <p:nvSpPr>
          <p:cNvPr id="9" name="Google Shape;120;p16"/>
          <p:cNvSpPr txBox="1"/>
          <p:nvPr/>
        </p:nvSpPr>
        <p:spPr>
          <a:xfrm>
            <a:off x="6511575" y="1625593"/>
            <a:ext cx="39321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b="1" dirty="0"/>
              <a:t>Presentación</a:t>
            </a:r>
          </a:p>
          <a:p>
            <a:r>
              <a:rPr lang="es-ES" sz="1200" dirty="0" err="1"/>
              <a:t>Dashboard</a:t>
            </a:r>
            <a:r>
              <a:rPr lang="es-ES" sz="1200" dirty="0"/>
              <a:t> Web (</a:t>
            </a:r>
            <a:r>
              <a:rPr lang="es-ES" sz="1200" dirty="0" err="1"/>
              <a:t>Thymeleaf</a:t>
            </a:r>
            <a:r>
              <a:rPr lang="es-ES" sz="1200" dirty="0"/>
              <a:t>) </a:t>
            </a:r>
          </a:p>
          <a:p>
            <a:r>
              <a:rPr lang="es-ES" sz="1200" dirty="0"/>
              <a:t>App Android (</a:t>
            </a:r>
            <a:r>
              <a:rPr lang="es-ES" sz="1200" dirty="0" err="1"/>
              <a:t>Kotlin</a:t>
            </a:r>
            <a:r>
              <a:rPr lang="es-ES" sz="1200" dirty="0"/>
              <a:t> + </a:t>
            </a:r>
            <a:r>
              <a:rPr lang="es-ES" sz="1200" dirty="0" err="1"/>
              <a:t>Retrofit</a:t>
            </a:r>
            <a:r>
              <a:rPr lang="es-ES" sz="1200" dirty="0" smtClean="0"/>
              <a:t>)</a:t>
            </a:r>
            <a:endParaRPr lang="es-ES" sz="1200" dirty="0"/>
          </a:p>
        </p:txBody>
      </p:sp>
      <p:sp>
        <p:nvSpPr>
          <p:cNvPr id="2" name="AutoShape 2" descr="Arquitectura cliente-servidor 3 cap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00" y="1580400"/>
            <a:ext cx="5303172" cy="3213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6704775" y="2136600"/>
            <a:ext cx="1905000" cy="2914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7175" dist="57150" dir="234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2592038" y="2133000"/>
            <a:ext cx="1799625" cy="2914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7175" dist="57150" dir="234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4649850" y="2133000"/>
            <a:ext cx="1871850" cy="2914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7175" dist="57150" dir="234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40000" y="2161800"/>
            <a:ext cx="1832400" cy="288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7175" dist="57150" dir="234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33825" y="3049475"/>
            <a:ext cx="1669763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50" dirty="0" err="1"/>
              <a:t>Backend</a:t>
            </a:r>
            <a:r>
              <a:rPr lang="es-ES" sz="1050" dirty="0"/>
              <a:t> desarrollado en Java con Spring </a:t>
            </a:r>
            <a:r>
              <a:rPr lang="es-ES" sz="1050" dirty="0" err="1"/>
              <a:t>Boot</a:t>
            </a:r>
            <a:r>
              <a:rPr lang="es-ES" sz="1050" dirty="0"/>
              <a:t> para gestionar la lógica de negocio, autenticación JWT, control de roles y exposición de la </a:t>
            </a:r>
            <a:r>
              <a:rPr lang="es-ES" sz="1050"/>
              <a:t>API </a:t>
            </a:r>
            <a:r>
              <a:rPr lang="es-ES" sz="1050" smtClean="0"/>
              <a:t>REST.</a:t>
            </a:r>
            <a:endParaRPr sz="9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5" name="Google Shape;195;p19"/>
          <p:cNvPicPr preferRelativeResize="0"/>
          <p:nvPr/>
        </p:nvPicPr>
        <p:blipFill rotWithShape="1">
          <a:blip r:embed="rId3">
            <a:alphaModFix/>
          </a:blip>
          <a:srcRect t="20301" b="24409"/>
          <a:stretch/>
        </p:blipFill>
        <p:spPr>
          <a:xfrm>
            <a:off x="534225" y="1712451"/>
            <a:ext cx="1905000" cy="131659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633825" y="1820225"/>
            <a:ext cx="142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Spring Boot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API REST · JWT · Spring Security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4">
            <a:alphaModFix/>
          </a:blip>
          <a:srcRect t="15440" b="14373"/>
          <a:stretch/>
        </p:blipFill>
        <p:spPr>
          <a:xfrm>
            <a:off x="2594925" y="1702225"/>
            <a:ext cx="1905000" cy="13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2688750" y="1820225"/>
            <a:ext cx="142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JPA / Hibernate · Docker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19"/>
          <p:cNvPicPr preferRelativeResize="0"/>
          <p:nvPr/>
        </p:nvPicPr>
        <p:blipFill rotWithShape="1">
          <a:blip r:embed="rId5">
            <a:alphaModFix/>
          </a:blip>
          <a:srcRect t="28030" b="32544"/>
          <a:stretch/>
        </p:blipFill>
        <p:spPr>
          <a:xfrm>
            <a:off x="4649850" y="1702224"/>
            <a:ext cx="1905000" cy="13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4743675" y="1820225"/>
            <a:ext cx="142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Android / Kotlin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Retrofit · Arquitectura MVVM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6">
            <a:alphaModFix/>
          </a:blip>
          <a:srcRect t="29599" b="17760"/>
          <a:stretch/>
        </p:blipFill>
        <p:spPr>
          <a:xfrm>
            <a:off x="6704775" y="1702237"/>
            <a:ext cx="1905000" cy="1337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798600" y="1820225"/>
            <a:ext cx="1428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Thymeleaf + Web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HTML · CSS · JavaScript</a:t>
            </a: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78774" y="230775"/>
            <a:ext cx="751402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 dirty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Tecnologías Implementadas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2685863" y="3049475"/>
            <a:ext cx="1705800" cy="131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50" dirty="0"/>
              <a:t>Base de datos relacional </a:t>
            </a:r>
            <a:r>
              <a:rPr lang="es-ES" sz="1050" dirty="0" err="1"/>
              <a:t>PostgreSQL</a:t>
            </a:r>
            <a:r>
              <a:rPr lang="es-ES" sz="1050" dirty="0"/>
              <a:t> integrada mediante JPA/</a:t>
            </a:r>
            <a:r>
              <a:rPr lang="es-ES" sz="1050" dirty="0" err="1"/>
              <a:t>Hibernate</a:t>
            </a:r>
            <a:r>
              <a:rPr lang="es-ES" sz="1050" dirty="0"/>
              <a:t>. </a:t>
            </a:r>
            <a:r>
              <a:rPr lang="es-ES" sz="1050" dirty="0" err="1"/>
              <a:t>Docker</a:t>
            </a:r>
            <a:r>
              <a:rPr lang="es-ES" sz="1050" dirty="0"/>
              <a:t> se utilizó para facilitar el despliegue y la ejecución del entorno de desarrollo.</a:t>
            </a:r>
            <a:endParaRPr sz="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4743675" y="3049475"/>
            <a:ext cx="1705800" cy="163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50" dirty="0"/>
              <a:t>Aplicación móvil desarrollada en </a:t>
            </a:r>
            <a:r>
              <a:rPr lang="es-ES" sz="1050" dirty="0" err="1"/>
              <a:t>Kotlin</a:t>
            </a:r>
            <a:r>
              <a:rPr lang="es-ES" sz="1050" dirty="0"/>
              <a:t> para operaciones de almacén. </a:t>
            </a:r>
            <a:r>
              <a:rPr lang="es-ES" sz="1050" dirty="0" err="1"/>
              <a:t>Retrofit</a:t>
            </a:r>
            <a:r>
              <a:rPr lang="es-ES" sz="1050" dirty="0"/>
              <a:t> permite consumir la API REST y la arquitectura MVVM mejora la organización y mantenibilidad del código.</a:t>
            </a:r>
            <a:endParaRPr sz="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6798600" y="3049475"/>
            <a:ext cx="17058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1050" dirty="0" err="1"/>
              <a:t>Dashboard</a:t>
            </a:r>
            <a:r>
              <a:rPr lang="es-ES" sz="1050" dirty="0"/>
              <a:t> web desarrollado con </a:t>
            </a:r>
            <a:r>
              <a:rPr lang="es-ES" sz="1050" dirty="0" err="1"/>
              <a:t>Thymeleaf</a:t>
            </a:r>
            <a:r>
              <a:rPr lang="es-ES" sz="1050" dirty="0"/>
              <a:t> y tecnologías web para visualizar stock, alertas, movimientos recientes y gestionar el sistema desde navegador.</a:t>
            </a:r>
            <a:endParaRPr sz="9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949B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 b="12800"/>
          <a:stretch/>
        </p:blipFill>
        <p:spPr>
          <a:xfrm>
            <a:off x="0" y="97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706700" y="3288258"/>
            <a:ext cx="3423600" cy="8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y Conclusiones</a:t>
            </a:r>
            <a:endParaRPr sz="3400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06700" y="23750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0" b="1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sz="8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859498" y="4581331"/>
            <a:ext cx="647100" cy="0"/>
          </a:xfrm>
          <a:prstGeom prst="straightConnector1">
            <a:avLst/>
          </a:prstGeom>
          <a:noFill/>
          <a:ln w="76200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3" title="logo bl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114374" y="49688"/>
            <a:ext cx="5645626" cy="114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  <a:endParaRPr sz="24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 smtClean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 del sistema</a:t>
            </a:r>
            <a:endParaRPr sz="28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85000" y="1011900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/>
          <p:cNvPicPr/>
          <p:nvPr/>
        </p:nvPicPr>
        <p:blipFill>
          <a:blip r:embed="rId4"/>
          <a:stretch>
            <a:fillRect/>
          </a:stretch>
        </p:blipFill>
        <p:spPr>
          <a:xfrm>
            <a:off x="1014374" y="1696612"/>
            <a:ext cx="1962826" cy="2858400"/>
          </a:xfrm>
          <a:prstGeom prst="rect">
            <a:avLst/>
          </a:prstGeom>
        </p:spPr>
      </p:pic>
      <p:pic>
        <p:nvPicPr>
          <p:cNvPr id="8" name="Imagen 7"/>
          <p:cNvPicPr/>
          <p:nvPr/>
        </p:nvPicPr>
        <p:blipFill>
          <a:blip r:embed="rId5"/>
          <a:stretch>
            <a:fillRect/>
          </a:stretch>
        </p:blipFill>
        <p:spPr>
          <a:xfrm>
            <a:off x="3657600" y="2630417"/>
            <a:ext cx="5159770" cy="2323465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6"/>
          <a:stretch>
            <a:fillRect/>
          </a:stretch>
        </p:blipFill>
        <p:spPr>
          <a:xfrm>
            <a:off x="3657600" y="187201"/>
            <a:ext cx="5186285" cy="22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5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114374" y="49688"/>
            <a:ext cx="5645626" cy="114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  <a:endParaRPr sz="24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 smtClean="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 del sistema</a:t>
            </a:r>
            <a:endParaRPr sz="28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85000" y="1011900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/>
          <p:cNvPicPr/>
          <p:nvPr/>
        </p:nvPicPr>
        <p:blipFill>
          <a:blip r:embed="rId4"/>
          <a:stretch>
            <a:fillRect/>
          </a:stretch>
        </p:blipFill>
        <p:spPr>
          <a:xfrm>
            <a:off x="612500" y="1277391"/>
            <a:ext cx="1922400" cy="3427810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>
          <a:blip r:embed="rId5"/>
          <a:stretch>
            <a:fillRect/>
          </a:stretch>
        </p:blipFill>
        <p:spPr>
          <a:xfrm>
            <a:off x="3243645" y="1400217"/>
            <a:ext cx="2023110" cy="2983865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6"/>
          <a:stretch>
            <a:fillRect/>
          </a:stretch>
        </p:blipFill>
        <p:spPr>
          <a:xfrm>
            <a:off x="6141512" y="951302"/>
            <a:ext cx="1908175" cy="3497580"/>
          </a:xfrm>
          <a:prstGeom prst="rect">
            <a:avLst/>
          </a:prstGeom>
        </p:spPr>
      </p:pic>
      <p:sp>
        <p:nvSpPr>
          <p:cNvPr id="16" name="Google Shape;120;p16"/>
          <p:cNvSpPr txBox="1"/>
          <p:nvPr/>
        </p:nvSpPr>
        <p:spPr>
          <a:xfrm>
            <a:off x="1018162" y="4642564"/>
            <a:ext cx="1111076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b="1" dirty="0" err="1" smtClean="0"/>
              <a:t>Login</a:t>
            </a:r>
            <a:endParaRPr lang="es-ES" sz="1200" b="1" dirty="0"/>
          </a:p>
        </p:txBody>
      </p:sp>
      <p:sp>
        <p:nvSpPr>
          <p:cNvPr id="18" name="Google Shape;120;p16"/>
          <p:cNvSpPr txBox="1"/>
          <p:nvPr/>
        </p:nvSpPr>
        <p:spPr>
          <a:xfrm>
            <a:off x="3782668" y="4330082"/>
            <a:ext cx="1111076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b="1" dirty="0" smtClean="0"/>
              <a:t>Operario</a:t>
            </a:r>
            <a:endParaRPr lang="es-ES" sz="1200" b="1" dirty="0"/>
          </a:p>
        </p:txBody>
      </p:sp>
      <p:sp>
        <p:nvSpPr>
          <p:cNvPr id="19" name="Google Shape;120;p16"/>
          <p:cNvSpPr txBox="1"/>
          <p:nvPr/>
        </p:nvSpPr>
        <p:spPr>
          <a:xfrm>
            <a:off x="6680524" y="4384082"/>
            <a:ext cx="1111076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b="1" dirty="0" smtClean="0"/>
              <a:t>Supervisor</a:t>
            </a:r>
            <a:endParaRPr lang="es-ES" sz="1200" b="1" dirty="0"/>
          </a:p>
        </p:txBody>
      </p:sp>
    </p:spTree>
    <p:extLst>
      <p:ext uri="{BB962C8B-B14F-4D97-AF65-F5344CB8AC3E}">
        <p14:creationId xmlns:p14="http://schemas.microsoft.com/office/powerpoint/2010/main" val="321678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441974" y="92081"/>
            <a:ext cx="7899226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/>
            <a:r>
              <a:rPr lang="es-ES" sz="3200" dirty="0"/>
              <a:t>Validaciones y Pruebas</a:t>
            </a:r>
            <a:endParaRPr sz="32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0;p16"/>
          <p:cNvSpPr txBox="1"/>
          <p:nvPr/>
        </p:nvSpPr>
        <p:spPr>
          <a:xfrm>
            <a:off x="5649875" y="344723"/>
            <a:ext cx="3798000" cy="147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ES" sz="1200" dirty="0"/>
              <a:t>✅ </a:t>
            </a:r>
            <a:r>
              <a:rPr lang="es-ES" sz="1200" dirty="0" err="1"/>
              <a:t>Login</a:t>
            </a:r>
            <a:r>
              <a:rPr lang="es-ES" sz="1200" dirty="0"/>
              <a:t> Web y Android</a:t>
            </a:r>
            <a:br>
              <a:rPr lang="es-ES" sz="1200" dirty="0"/>
            </a:br>
            <a:r>
              <a:rPr lang="es-ES" sz="1200" dirty="0"/>
              <a:t>✅ Registro de movimientos</a:t>
            </a:r>
            <a:br>
              <a:rPr lang="es-ES" sz="1200" dirty="0"/>
            </a:br>
            <a:r>
              <a:rPr lang="es-ES" sz="1200" dirty="0"/>
              <a:t>✅ Transferencias de stock</a:t>
            </a:r>
            <a:br>
              <a:rPr lang="es-ES" sz="1200" dirty="0"/>
            </a:br>
            <a:r>
              <a:rPr lang="es-ES" sz="1200" dirty="0"/>
              <a:t>✅ Consulta FEFO</a:t>
            </a:r>
            <a:br>
              <a:rPr lang="es-ES" sz="1200" dirty="0"/>
            </a:br>
            <a:r>
              <a:rPr lang="es-ES" sz="1200" dirty="0"/>
              <a:t>✅ Alertas automáticas</a:t>
            </a:r>
            <a:br>
              <a:rPr lang="es-ES" sz="1200" dirty="0"/>
            </a:br>
            <a:r>
              <a:rPr lang="es-ES" sz="1200" dirty="0"/>
              <a:t>✅ Configuración dinámica del </a:t>
            </a:r>
            <a:r>
              <a:rPr lang="es-ES" sz="1200" dirty="0" err="1"/>
              <a:t>backend</a:t>
            </a:r>
            <a:r>
              <a:rPr lang="es" sz="1150" dirty="0" smtClean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r>
              <a:rPr lang="es" sz="1600" dirty="0" smtClean="0">
                <a:solidFill>
                  <a:srgbClr val="223C45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553723"/>
              </p:ext>
            </p:extLst>
          </p:nvPr>
        </p:nvGraphicFramePr>
        <p:xfrm>
          <a:off x="831600" y="2199598"/>
          <a:ext cx="7225200" cy="2257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6697">
                  <a:extLst>
                    <a:ext uri="{9D8B030D-6E8A-4147-A177-3AD203B41FA5}">
                      <a16:colId xmlns:a16="http://schemas.microsoft.com/office/drawing/2014/main" val="588726913"/>
                    </a:ext>
                  </a:extLst>
                </a:gridCol>
                <a:gridCol w="4838503">
                  <a:extLst>
                    <a:ext uri="{9D8B030D-6E8A-4147-A177-3AD203B41FA5}">
                      <a16:colId xmlns:a16="http://schemas.microsoft.com/office/drawing/2014/main" val="499556558"/>
                    </a:ext>
                  </a:extLst>
                </a:gridCol>
              </a:tblGrid>
              <a:tr h="2395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Prueba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Resultado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esperado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805590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Login Android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El sistema devuelve token JWT válido.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8752122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Login web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El usuario accede a la vista correspondiente según rol.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080343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Alta de producto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El producto queda registrado y visible en consultas.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9712915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Entrada de stock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El stock aumenta en la ubicación destino.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2463276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Salida de stock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El stock disminuye y se valida disponibilidad.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9111383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Transferencia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El stock se descuenta en origen y aumenta en destino.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2072236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Consulta FEFO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Se recomienda el lote con caducidad más próxima.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9088288"/>
                  </a:ext>
                </a:extLst>
              </a:tr>
              <a:tr h="252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Configuración IP Android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La app </a:t>
                      </a:r>
                      <a:r>
                        <a:rPr lang="en-US" sz="1100" dirty="0" err="1">
                          <a:effectLst/>
                        </a:rPr>
                        <a:t>permite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modificar</a:t>
                      </a:r>
                      <a:r>
                        <a:rPr lang="en-US" sz="1100" dirty="0">
                          <a:effectLst/>
                        </a:rPr>
                        <a:t> la URL del backend sin </a:t>
                      </a:r>
                      <a:r>
                        <a:rPr lang="en-US" sz="1100" dirty="0" err="1">
                          <a:effectLst/>
                        </a:rPr>
                        <a:t>recompilar</a:t>
                      </a:r>
                      <a:r>
                        <a:rPr lang="en-US" sz="1100" dirty="0">
                          <a:effectLst/>
                        </a:rPr>
                        <a:t>.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4631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85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499574" y="102075"/>
            <a:ext cx="7899226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  <a:endParaRPr sz="33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/>
            <a:r>
              <a:rPr lang="es-ES" sz="3200" dirty="0"/>
              <a:t>Conclusiones y Trabajo Futuro</a:t>
            </a:r>
            <a:endParaRPr sz="32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932649" y="1645200"/>
            <a:ext cx="4159125" cy="229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ES" sz="1200" dirty="0" smtClean="0"/>
              <a:t>Mejoras:</a:t>
            </a:r>
          </a:p>
          <a:p>
            <a:pPr lvl="0">
              <a:lnSpc>
                <a:spcPct val="115000"/>
              </a:lnSpc>
            </a:pPr>
            <a:r>
              <a:rPr lang="es-ES" sz="1200" dirty="0" smtClean="0"/>
              <a:t> </a:t>
            </a:r>
          </a:p>
          <a:p>
            <a:pPr lvl="0">
              <a:lnSpc>
                <a:spcPct val="115000"/>
              </a:lnSpc>
            </a:pPr>
            <a:r>
              <a:rPr lang="es-ES" sz="1200" dirty="0" smtClean="0"/>
              <a:t>Integración </a:t>
            </a:r>
            <a:r>
              <a:rPr lang="es-ES" sz="1200" dirty="0"/>
              <a:t>de códigos QR y lectores de código de barras</a:t>
            </a:r>
            <a:br>
              <a:rPr lang="es-ES" sz="1200" dirty="0"/>
            </a:br>
            <a:r>
              <a:rPr lang="es-ES" sz="1200" dirty="0" smtClean="0"/>
              <a:t> </a:t>
            </a:r>
          </a:p>
          <a:p>
            <a:pPr lvl="0">
              <a:lnSpc>
                <a:spcPct val="115000"/>
              </a:lnSpc>
            </a:pPr>
            <a:r>
              <a:rPr lang="es-ES" sz="1200" dirty="0" smtClean="0"/>
              <a:t>Notificaciones </a:t>
            </a:r>
            <a:r>
              <a:rPr lang="es-ES" sz="1200" dirty="0" err="1"/>
              <a:t>push</a:t>
            </a:r>
            <a:r>
              <a:rPr lang="es-ES" sz="1200" dirty="0"/>
              <a:t> y alertas en tiempo </a:t>
            </a:r>
            <a:r>
              <a:rPr lang="es-ES" sz="1200" dirty="0" smtClean="0"/>
              <a:t>real</a:t>
            </a:r>
          </a:p>
          <a:p>
            <a:pPr lvl="0">
              <a:lnSpc>
                <a:spcPct val="115000"/>
              </a:lnSpc>
            </a:pPr>
            <a:r>
              <a:rPr lang="es-ES" sz="1200" dirty="0"/>
              <a:t/>
            </a:r>
            <a:br>
              <a:rPr lang="es-ES" sz="1200" dirty="0"/>
            </a:br>
            <a:r>
              <a:rPr lang="es-ES" sz="1200" dirty="0" smtClean="0"/>
              <a:t>Analítica </a:t>
            </a:r>
            <a:r>
              <a:rPr lang="es-ES" sz="1200" dirty="0"/>
              <a:t>predictiva de stock y </a:t>
            </a:r>
            <a:r>
              <a:rPr lang="es-ES" sz="1200" dirty="0" smtClean="0"/>
              <a:t>caducidades</a:t>
            </a:r>
          </a:p>
          <a:p>
            <a:pPr lvl="0">
              <a:lnSpc>
                <a:spcPct val="115000"/>
              </a:lnSpc>
            </a:pPr>
            <a:r>
              <a:rPr lang="es-ES" sz="1200" dirty="0"/>
              <a:t/>
            </a:r>
            <a:br>
              <a:rPr lang="es-ES" sz="1200" dirty="0"/>
            </a:br>
            <a:r>
              <a:rPr lang="es-ES" sz="1200" dirty="0" smtClean="0"/>
              <a:t> </a:t>
            </a:r>
            <a:r>
              <a:rPr lang="es-ES" sz="1200" dirty="0"/>
              <a:t>Integración con </a:t>
            </a:r>
            <a:r>
              <a:rPr lang="es-ES" sz="1200"/>
              <a:t>robots </a:t>
            </a:r>
            <a:r>
              <a:rPr lang="es-ES" sz="1200" smtClean="0"/>
              <a:t>AMR/Kiva/cramers </a:t>
            </a:r>
            <a:r>
              <a:rPr lang="es-ES" sz="1200" dirty="0"/>
              <a:t>para automatización de almacén</a:t>
            </a:r>
            <a:br>
              <a:rPr lang="es-ES" sz="1200" dirty="0"/>
            </a:br>
            <a:r>
              <a:rPr lang="es-ES" sz="1200" dirty="0" smtClean="0"/>
              <a:t> </a:t>
            </a:r>
            <a:endParaRPr sz="10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21" name="Google Shape;121;p16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0;p16"/>
          <p:cNvSpPr txBox="1"/>
          <p:nvPr/>
        </p:nvSpPr>
        <p:spPr>
          <a:xfrm>
            <a:off x="290062" y="1645200"/>
            <a:ext cx="4731938" cy="3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 sz="1600"/>
            </a:pPr>
            <a:r>
              <a:rPr lang="es-ES" sz="1200" dirty="0" smtClean="0"/>
              <a:t>Conclusiones:</a:t>
            </a:r>
          </a:p>
          <a:p>
            <a:pPr lvl="0">
              <a:defRPr sz="1600"/>
            </a:pPr>
            <a:endParaRPr lang="es-ES" sz="1200" dirty="0"/>
          </a:p>
          <a:p>
            <a:pPr lvl="0">
              <a:defRPr sz="1600"/>
            </a:pPr>
            <a:r>
              <a:rPr lang="es-ES" sz="1200" dirty="0" smtClean="0"/>
              <a:t>Desarrollo </a:t>
            </a:r>
            <a:r>
              <a:rPr lang="es-ES" sz="1200" dirty="0"/>
              <a:t>de una solución funcional de gestión de inventario multiplataforma</a:t>
            </a:r>
            <a:br>
              <a:rPr lang="es-ES" sz="1200" dirty="0"/>
            </a:br>
            <a:r>
              <a:rPr lang="es-ES" sz="1200" dirty="0" smtClean="0"/>
              <a:t>Implementación </a:t>
            </a:r>
            <a:r>
              <a:rPr lang="es-ES" sz="1200" dirty="0"/>
              <a:t>correcta de </a:t>
            </a:r>
            <a:r>
              <a:rPr lang="es-ES" sz="1200" dirty="0" smtClean="0"/>
              <a:t>estrategia</a:t>
            </a:r>
          </a:p>
          <a:p>
            <a:pPr lvl="0">
              <a:defRPr sz="1600"/>
            </a:pPr>
            <a:r>
              <a:rPr lang="es-ES" sz="1200" dirty="0" smtClean="0"/>
              <a:t> </a:t>
            </a:r>
          </a:p>
          <a:p>
            <a:pPr lvl="0">
              <a:defRPr sz="1600"/>
            </a:pPr>
            <a:r>
              <a:rPr lang="es-ES" sz="1200" dirty="0" smtClean="0"/>
              <a:t>FEFO </a:t>
            </a:r>
            <a:r>
              <a:rPr lang="es-ES" sz="1200" dirty="0"/>
              <a:t>y control por </a:t>
            </a:r>
            <a:r>
              <a:rPr lang="es-ES" sz="1200" dirty="0" smtClean="0"/>
              <a:t>lotes</a:t>
            </a:r>
          </a:p>
          <a:p>
            <a:pPr lvl="0">
              <a:defRPr sz="1600"/>
            </a:pPr>
            <a:r>
              <a:rPr lang="es-ES" sz="1200" dirty="0"/>
              <a:t/>
            </a:r>
            <a:br>
              <a:rPr lang="es-ES" sz="1200" dirty="0"/>
            </a:br>
            <a:r>
              <a:rPr lang="es-ES" sz="1200" dirty="0" smtClean="0"/>
              <a:t>Arquitectura </a:t>
            </a:r>
            <a:r>
              <a:rPr lang="es-ES" sz="1200" dirty="0"/>
              <a:t>cliente-servidor escalable basada en API REST</a:t>
            </a:r>
            <a:br>
              <a:rPr lang="es-ES" sz="1200" dirty="0"/>
            </a:br>
            <a:r>
              <a:rPr lang="es-ES" sz="1200" dirty="0" smtClean="0"/>
              <a:t>Integración </a:t>
            </a:r>
            <a:r>
              <a:rPr lang="es-ES" sz="1200" dirty="0"/>
              <a:t>de </a:t>
            </a:r>
            <a:r>
              <a:rPr lang="es-ES" sz="1200" dirty="0" err="1"/>
              <a:t>dashboard</a:t>
            </a:r>
            <a:r>
              <a:rPr lang="es-ES" sz="1200" dirty="0"/>
              <a:t> web y </a:t>
            </a:r>
            <a:r>
              <a:rPr lang="es-ES" sz="1200" dirty="0" smtClean="0"/>
              <a:t>aplicación</a:t>
            </a:r>
          </a:p>
          <a:p>
            <a:pPr lvl="0">
              <a:defRPr sz="1600"/>
            </a:pPr>
            <a:endParaRPr lang="es-ES" sz="1200" dirty="0"/>
          </a:p>
          <a:p>
            <a:pPr lvl="0">
              <a:defRPr sz="1600"/>
            </a:pPr>
            <a:r>
              <a:rPr lang="es-ES" sz="1200" dirty="0" smtClean="0"/>
              <a:t>Android </a:t>
            </a:r>
            <a:r>
              <a:rPr lang="es-ES" sz="1200" dirty="0"/>
              <a:t>reutilizando el mismo </a:t>
            </a:r>
            <a:r>
              <a:rPr lang="es-ES" sz="1200" dirty="0" err="1"/>
              <a:t>backend</a:t>
            </a:r>
            <a:r>
              <a:rPr lang="es-ES" sz="1200" dirty="0"/>
              <a:t/>
            </a:r>
            <a:br>
              <a:rPr lang="es-ES" sz="1200" dirty="0"/>
            </a:br>
            <a:r>
              <a:rPr lang="es-ES" sz="1200" dirty="0" smtClean="0"/>
              <a:t>Sistema </a:t>
            </a:r>
            <a:r>
              <a:rPr lang="es-ES" sz="1200" dirty="0"/>
              <a:t>preparado para futuras ampliaciones y </a:t>
            </a:r>
            <a:r>
              <a:rPr lang="es-ES" sz="1200" dirty="0" err="1" smtClean="0"/>
              <a:t>utomatización</a:t>
            </a:r>
            <a:r>
              <a:rPr lang="es-ES" sz="1200" dirty="0" smtClean="0"/>
              <a:t> </a:t>
            </a:r>
            <a:r>
              <a:rPr lang="es-ES" sz="1200" dirty="0"/>
              <a:t>logística</a:t>
            </a:r>
            <a:r>
              <a:rPr lang="es" dirty="0">
                <a:sym typeface="Poppins Light"/>
              </a:rPr>
              <a:t>. </a:t>
            </a:r>
            <a:endParaRPr dirty="0"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051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1" title="female-college-student-looking-back-at-camera-walk-2025-01-10-03-12-56-utc.jpg"/>
          <p:cNvPicPr preferRelativeResize="0"/>
          <p:nvPr/>
        </p:nvPicPr>
        <p:blipFill rotWithShape="1">
          <a:blip r:embed="rId3">
            <a:alphaModFix/>
          </a:blip>
          <a:srcRect t="6247" b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1"/>
          <p:cNvSpPr/>
          <p:nvPr/>
        </p:nvSpPr>
        <p:spPr>
          <a:xfrm rot="10800000">
            <a:off x="7782000" y="367900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Google Shape;230;p21"/>
          <p:cNvSpPr/>
          <p:nvPr/>
        </p:nvSpPr>
        <p:spPr>
          <a:xfrm>
            <a:off x="381075" y="3949313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31" name="Google Shape;231;p2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7638" y="2331025"/>
            <a:ext cx="3968725" cy="4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822</Words>
  <Application>Microsoft Office PowerPoint</Application>
  <PresentationFormat>Presentación en pantalla (16:9)</PresentationFormat>
  <Paragraphs>152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Poppins Light</vt:lpstr>
      <vt:lpstr>Poppins</vt:lpstr>
      <vt:lpstr>Calibri</vt:lpstr>
      <vt:lpstr>Times New Roman</vt:lpstr>
      <vt:lpstr>Poppins SemiBold</vt:lpstr>
      <vt:lpstr>Simple Light</vt:lpstr>
      <vt:lpstr>Simple Light</vt:lpstr>
      <vt:lpstr>Presentación de PowerPoint</vt:lpstr>
      <vt:lpstr>Problema y Contexto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CAstellanos</dc:creator>
  <cp:lastModifiedBy>Nicolas CAstellanos</cp:lastModifiedBy>
  <cp:revision>15</cp:revision>
  <dcterms:modified xsi:type="dcterms:W3CDTF">2026-05-16T14:30:34Z</dcterms:modified>
</cp:coreProperties>
</file>